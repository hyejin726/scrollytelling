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8" r:id="rId3"/>
    <p:sldId id="257" r:id="rId4"/>
    <p:sldId id="27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ssion 1" id="{8367AE18-3CF1-4AD4-A93A-551A29F5DE4B}">
          <p14:sldIdLst/>
        </p14:section>
        <p14:section name="Default-1" id="{742BFC5B-2F49-51A4-6346-83587883A62B}">
          <p14:sldIdLst>
            <p14:sldId id="256"/>
            <p14:sldId id="278"/>
            <p14:sldId id="257"/>
            <p14:sldId id="279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3E084-B5F4-B883-A5CA-43F3C2E83479}" v="28" dt="2026-06-02T10:39:58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0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Kim" userId="S::hans.kim@thebytesize.ai::98ae6003-4177-4f6a-93c8-fc02880181ab" providerId="AD" clId="Web-{BC33E084-B5F4-B883-A5CA-43F3C2E83479}"/>
    <pc:docChg chg="modSld">
      <pc:chgData name="Hans Kim" userId="S::hans.kim@thebytesize.ai::98ae6003-4177-4f6a-93c8-fc02880181ab" providerId="AD" clId="Web-{BC33E084-B5F4-B883-A5CA-43F3C2E83479}" dt="2026-06-02T10:39:43.409" v="28" actId="20577"/>
      <pc:docMkLst>
        <pc:docMk/>
      </pc:docMkLst>
      <pc:sldChg chg="modSp">
        <pc:chgData name="Hans Kim" userId="S::hans.kim@thebytesize.ai::98ae6003-4177-4f6a-93c8-fc02880181ab" providerId="AD" clId="Web-{BC33E084-B5F4-B883-A5CA-43F3C2E83479}" dt="2026-06-02T10:39:43.409" v="28" actId="20577"/>
        <pc:sldMkLst>
          <pc:docMk/>
          <pc:sldMk cId="3650981848" sldId="281"/>
        </pc:sldMkLst>
        <pc:spChg chg="mod">
          <ac:chgData name="Hans Kim" userId="S::hans.kim@thebytesize.ai::98ae6003-4177-4f6a-93c8-fc02880181ab" providerId="AD" clId="Web-{BC33E084-B5F4-B883-A5CA-43F3C2E83479}" dt="2026-06-02T10:39:43.409" v="28" actId="20577"/>
          <ac:spMkLst>
            <pc:docMk/>
            <pc:sldMk cId="3650981848" sldId="281"/>
            <ac:spMk id="6" creationId="{AD16E6B5-AF65-DD39-1237-BBC8A5F05C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00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3229-7517-C367-85DE-D327C8AE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B9F8B-07BF-EA1F-B1FA-C4557F880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3A872-73F9-F948-9D47-61AD999BE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5008A-46A8-A3B5-5AAC-FDA769942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42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8528E-D4EB-D4D4-72F5-088FD167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915FA-A965-C5A1-606D-84A139A58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74A96-A428-1230-6335-EAA14C832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D3E19-B2B0-35C8-C232-4CC0C03B7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1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117B-C849-B75E-ED4B-0DC5EF22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5B586-C08F-8AD4-FC20-A8A841F2D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576D3-0785-41C6-6E3C-48FA1E08A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2D3D-4593-3F9D-7179-4B4376276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8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494A-5387-EF62-D27B-5C0A80A4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42F33-6DED-DC42-95DD-29C75B250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22F72-0DCC-4C3F-A873-4EC95E372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A6060-02BA-5968-A557-079EF8EAB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43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E125F-5A89-EA53-4481-76F9A9EE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F192F-1E8B-19EE-1E92-341D0BFB1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7E983-C977-52F1-B986-B7E8222B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D7599-63DF-1AA9-79D1-FB8150ED4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0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B103-E151-F3D1-33CE-D24C08C1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6022A-C820-18A9-7551-147F154E2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B1407-A754-AB73-7A57-69EB0B79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7008-561C-9603-7DF3-0F60B6DDE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2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pple.com/design/human-interface-guidelines/motion" TargetMode="External"/><Relationship Id="rId13" Type="http://schemas.openxmlformats.org/officeDocument/2006/relationships/hyperlink" Target="https://carbondesignsystem.com/elements/motion/overview/" TargetMode="External"/><Relationship Id="rId3" Type="http://schemas.openxmlformats.org/officeDocument/2006/relationships/hyperlink" Target="https://m3.material.io/" TargetMode="External"/><Relationship Id="rId7" Type="http://schemas.openxmlformats.org/officeDocument/2006/relationships/hyperlink" Target="https://developer.apple.com/design/human-interface-guidelines/typography" TargetMode="External"/><Relationship Id="rId12" Type="http://schemas.openxmlformats.org/officeDocument/2006/relationships/hyperlink" Target="https://carbondesignsystem.com/elements/spacing/overview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apple.com/design/human-interface-guidelines" TargetMode="External"/><Relationship Id="rId11" Type="http://schemas.openxmlformats.org/officeDocument/2006/relationships/hyperlink" Target="https://fluent2.microsoft.design/motion" TargetMode="External"/><Relationship Id="rId5" Type="http://schemas.openxmlformats.org/officeDocument/2006/relationships/hyperlink" Target="https://m3.material.io/styles/motion/easing-and-duration" TargetMode="External"/><Relationship Id="rId10" Type="http://schemas.openxmlformats.org/officeDocument/2006/relationships/hyperlink" Target="https://fluent2.microsoft.design/layout" TargetMode="External"/><Relationship Id="rId4" Type="http://schemas.openxmlformats.org/officeDocument/2006/relationships/hyperlink" Target="https://m3.material.io/styles/typography/applying-type" TargetMode="External"/><Relationship Id="rId9" Type="http://schemas.openxmlformats.org/officeDocument/2006/relationships/hyperlink" Target="https://fluent2.microsoft.design/typography" TargetMode="External"/><Relationship Id="rId14" Type="http://schemas.openxmlformats.org/officeDocument/2006/relationships/hyperlink" Target="https://atlassian.design/foundations/motion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.org/WAI/WCAG20/Understanding/contrast-minimum" TargetMode="External"/><Relationship Id="rId13" Type="http://schemas.openxmlformats.org/officeDocument/2006/relationships/hyperlink" Target="https://www.awwwards.com/websites/" TargetMode="External"/><Relationship Id="rId3" Type="http://schemas.openxmlformats.org/officeDocument/2006/relationships/hyperlink" Target="https://developer.mozilla.org/en-US/docs/Web/Performance/Guides/Animation_performance_and_frame_rate" TargetMode="External"/><Relationship Id="rId7" Type="http://schemas.openxmlformats.org/officeDocument/2006/relationships/hyperlink" Target="https://web.dev/articles/vitals" TargetMode="External"/><Relationship Id="rId12" Type="http://schemas.openxmlformats.org/officeDocument/2006/relationships/hyperlink" Target="https://www.w3.org/community/design-tokens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CSS/Reference/At-rules/%40media/prefers-reduced-motion" TargetMode="External"/><Relationship Id="rId11" Type="http://schemas.openxmlformats.org/officeDocument/2006/relationships/hyperlink" Target="https://shopify.dev/docs/api/polaris" TargetMode="External"/><Relationship Id="rId5" Type="http://schemas.openxmlformats.org/officeDocument/2006/relationships/hyperlink" Target="https://developer.mozilla.org/en-US/docs/Web/API/Window/requestAnimationFrame" TargetMode="External"/><Relationship Id="rId10" Type="http://schemas.openxmlformats.org/officeDocument/2006/relationships/hyperlink" Target="https://ant.design/components/grid/" TargetMode="External"/><Relationship Id="rId4" Type="http://schemas.openxmlformats.org/officeDocument/2006/relationships/hyperlink" Target="https://web.dev/articles/animations-guide" TargetMode="External"/><Relationship Id="rId9" Type="http://schemas.openxmlformats.org/officeDocument/2006/relationships/hyperlink" Target="https://ant.design/docs/spec/motion/" TargetMode="External"/><Relationship Id="rId14" Type="http://schemas.openxmlformats.org/officeDocument/2006/relationships/hyperlink" Target="https://www.cssdesignawards.com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3609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움직인다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67665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EDED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스터디를 위한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EDED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 디자인과 모션 기초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6949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웹을 “느낌”이 아니라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 · </a:t>
            </a:r>
            <a:r>
              <a:rPr lang="en-US" sz="1550" dirty="0" err="1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</a:t>
            </a:r>
            <a:r>
              <a:rPr lang="ko-KR" altLang="en-US" sz="1550" dirty="0" err="1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이포</a:t>
            </a:r>
            <a:r>
              <a:rPr lang="en-US" sz="155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모션 · 성능의 언어로 분해하기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851392" y="1325880"/>
            <a:ext cx="2514600" cy="2514600"/>
          </a:xfrm>
          <a:prstGeom prst="rect">
            <a:avLst/>
          </a:prstGeom>
          <a:solidFill>
            <a:srgbClr val="121218"/>
          </a:solidFill>
          <a:ln w="15240">
            <a:solidFill>
              <a:srgbClr val="3A3A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089136" y="2542032"/>
            <a:ext cx="2002536" cy="0"/>
          </a:xfrm>
          <a:prstGeom prst="line">
            <a:avLst/>
          </a:prstGeom>
          <a:noFill/>
          <a:ln w="15240">
            <a:solidFill>
              <a:srgbClr val="4848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94976" y="1536192"/>
            <a:ext cx="0" cy="2011680"/>
          </a:xfrm>
          <a:prstGeom prst="line">
            <a:avLst/>
          </a:prstGeom>
          <a:noFill/>
          <a:ln w="15240">
            <a:solidFill>
              <a:srgbClr val="4848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85248" y="243230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061704" y="4133088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28632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AD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foundation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22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0ECD-C08D-9C0E-DEB9-1CF4274A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C34E5-D2DE-097B-6535-8B0F200B8E7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7BBD51-215F-144F-C69C-D93923C5887A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1A48D4-69FB-1BAD-5E27-FF8B16EF88DB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C34E0C-1915-9A4A-4E28-561E16195CAE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4B9416-3933-2764-8E91-B0679977B345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1.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무엇을 하나</a:t>
            </a:r>
            <a:r>
              <a:rPr lang="en-US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A96E50F-A8A5-CF10-4CC7-F485600620D8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7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THIS SESSION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웹은 정지 화면만으로 완성되지 않는다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픽셀의 아름다움보다 중요한 것은 “반응하고 전환되는 전체 경험”입니다.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좋아 보인다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좋아 보이는가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54964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구현할까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611880" y="2468880"/>
            <a:ext cx="704088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01000" y="2468880"/>
            <a:ext cx="338328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041977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기준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15400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단위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3840480"/>
            <a:ext cx="10378440" cy="0"/>
          </a:xfrm>
          <a:prstGeom prst="line">
            <a:avLst/>
          </a:prstGeom>
          <a:noFill/>
          <a:ln w="1524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1508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4224527"/>
            <a:ext cx="8092440" cy="13350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</a:t>
            </a:r>
            <a:r>
              <a:rPr lang="en-US" sz="18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 구조를 만들고,</a:t>
            </a: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2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타이포그래피</a:t>
            </a:r>
            <a:r>
              <a:rPr lang="en-US" sz="18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</a:t>
            </a:r>
            <a:r>
              <a:rPr lang="en-US" sz="18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위계를 만들고,</a:t>
            </a: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2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모션</a:t>
            </a:r>
            <a:r>
              <a:rPr lang="en-US" sz="18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</a:t>
            </a:r>
            <a:r>
              <a:rPr lang="en-US" sz="18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변화의 의미를 설명한다.</a:t>
            </a:r>
            <a:endParaRPr lang="en-US" sz="1820" dirty="0"/>
          </a:p>
          <a:p>
            <a:pPr marL="0" indent="0" algn="l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</a:t>
            </a:r>
            <a:r>
              <a:rPr lang="en-US" sz="18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</a:t>
            </a: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접근성</a:t>
            </a:r>
            <a:r>
              <a:rPr lang="en-US" sz="18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 그 모든 것을 사용 가능한 경험으로 만든다.</a:t>
            </a:r>
            <a:endParaRPr lang="en-US" sz="1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1A61-7567-5D37-DD83-6FAA56D2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918D43-6FF7-E235-E48E-3F03187FB80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90B36D-4BD5-80DE-A17A-B8CEAEAD9D38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18700E-7210-7885-E01E-D743B4405B80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A4FF0E-47C0-FC0E-3A6F-28180D15CF63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27F5A4-F0BA-5B14-237A-86A0BBE758A6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2.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어떻게 하나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CC0DC3D-7B76-6520-21DA-63C6AA202F3D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72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OUTPUTS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회차의 산출물은 세 가지면 충분하다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7주 동안 같은 언어로 레퍼런스를 보고 구현하기 위한 기준입니다.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20240" y="4224528"/>
            <a:ext cx="8138160" cy="0"/>
          </a:xfrm>
          <a:prstGeom prst="line">
            <a:avLst/>
          </a:prstGeom>
          <a:noFill/>
          <a:ln w="1524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4224528"/>
            <a:ext cx="813816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856232" y="4105656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6868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체크리스트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777240" y="3163824"/>
            <a:ext cx="2606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</a:t>
            </a:r>
            <a:r>
              <a:rPr 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3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</a:t>
            </a:r>
            <a:r>
              <a:rPr 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사이트</a:t>
            </a:r>
            <a:r>
              <a:rPr lang="en-US" sz="123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</a:t>
            </a:r>
            <a:r>
              <a:rPr 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layout · typo · color · state · motion · performance 관점으로 읽는다.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330952" y="4105656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3484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34340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Starter tokens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4251960" y="3163824"/>
            <a:ext cx="2606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spacing, typography, motion duration/easing을 작은 변수 세트로 합의한다.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805672" y="4105656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90956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81812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검증 기준</a:t>
            </a:r>
            <a:endParaRPr lang="en-US" sz="1720" dirty="0"/>
          </a:p>
        </p:txBody>
      </p:sp>
      <p:sp>
        <p:nvSpPr>
          <p:cNvPr id="22" name="Text 20"/>
          <p:cNvSpPr/>
          <p:nvPr/>
        </p:nvSpPr>
        <p:spPr>
          <a:xfrm>
            <a:off x="7726680" y="3163824"/>
            <a:ext cx="2606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transform/opacity, font loading, reduced motion, Core Web Vitals를 기본 점검한다.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914400" y="5138928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결과적으로 “따라 만들기”가 아니라 재사용 가능한 컴포넌트와 위젯으로 남기는 것이 목표입니다.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ANALYSIS LAYERS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웹을 쪼개는 7개의 층위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분석은 “예쁘다”에서 시작하되, 구현 가능한 언어로 끝나야 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0120" y="2240280"/>
            <a:ext cx="0" cy="3630168"/>
          </a:xfrm>
          <a:prstGeom prst="line">
            <a:avLst/>
          </a:prstGeom>
          <a:noFill/>
          <a:ln w="254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0120" y="2240280"/>
            <a:ext cx="0" cy="363016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59536" y="209397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43584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</a:t>
            </a:r>
            <a:endParaRPr lang="en-US" sz="1580" b="1" dirty="0"/>
          </a:p>
        </p:txBody>
      </p:sp>
      <p:sp>
        <p:nvSpPr>
          <p:cNvPr id="13" name="Text 11"/>
          <p:cNvSpPr/>
          <p:nvPr/>
        </p:nvSpPr>
        <p:spPr>
          <a:xfrm>
            <a:off x="3456432" y="2002536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grid · spacing · density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59536" y="262432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43584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Typography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3456432" y="2532888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role · scale · line-height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59536" y="315468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43584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Color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3456432" y="3063240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semantic role · contrast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59536" y="368503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43584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3456432" y="3593592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hover · focus · pressed · disabled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59536" y="421538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43584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Motion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3456432" y="4123944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trigger · duration · easing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59536" y="474573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43584" y="463600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Performance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3456432" y="4654296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frame · font · CLS · INP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59536" y="52760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43584" y="516636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Accessibility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3456432" y="5184648"/>
            <a:ext cx="3246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reduced motion · resize · contrast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178040" y="2148840"/>
            <a:ext cx="36576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스터디에서는 </a:t>
            </a:r>
            <a:r>
              <a:rPr lang="en-US" altLang="ko-KR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Motion</a:t>
            </a:r>
            <a:r>
              <a:rPr lang="ko-KR" alt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층위에 집중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178040" y="2912364"/>
            <a:ext cx="3840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</a:t>
            </a:r>
            <a:r>
              <a:rPr lang="en-US" altLang="ko-KR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  <a:r>
              <a:rPr lang="ko-KR" alt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60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모션은</a:t>
            </a:r>
            <a:r>
              <a:rPr 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“마지막 장식”이 아니라 레이아웃, 상태, </a:t>
            </a:r>
            <a:r>
              <a:rPr lang="en-US" sz="160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성능과</a:t>
            </a:r>
            <a:r>
              <a:rPr 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600" dirty="0" err="1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</a:t>
            </a:r>
            <a:r>
              <a:rPr lang="ko-KR" alt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설계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9480" y="4892040"/>
            <a:ext cx="1051560" cy="292608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언어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1051560" cy="292608"/>
          </a:xfrm>
          <a:prstGeom prst="rect">
            <a:avLst/>
          </a:prstGeom>
          <a:solidFill>
            <a:srgbClr val="F0EDE7"/>
          </a:solidFill>
          <a:ln>
            <a:solidFill>
              <a:srgbClr val="F0EDE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기준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38360" y="4892040"/>
            <a:ext cx="1051560" cy="292608"/>
          </a:xfrm>
          <a:prstGeom prst="rect">
            <a:avLst/>
          </a:prstGeom>
          <a:solidFill>
            <a:srgbClr val="F0EDE7"/>
          </a:solidFill>
          <a:ln>
            <a:solidFill>
              <a:srgbClr val="F0EDE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단위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REFERENCE TYPES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레퍼런스는 같은 기준으로 평가하면 안 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UI와 캠페인 사이트는 목표가 다르기 때문에 타입을 먼저 분류합니다.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069080" y="2011680"/>
            <a:ext cx="0" cy="3794760"/>
          </a:xfrm>
          <a:prstGeom prst="line">
            <a:avLst/>
          </a:prstGeom>
          <a:noFill/>
          <a:ln w="1397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909560" y="2011680"/>
            <a:ext cx="0" cy="3794760"/>
          </a:xfrm>
          <a:prstGeom prst="line">
            <a:avLst/>
          </a:prstGeom>
          <a:noFill/>
          <a:ln w="1397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UI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542032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빠르고 명확한 업무 수행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SaaS, 대시보드, Admin, 협업툴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2971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낮은 밀도보다 스캔성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상태와 피드백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짧고 미묘한 모션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4553712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Editorial / Marketing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53712" y="2542032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브랜드와 메시지의 인상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53712" y="2944368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랜딩 페이지, 브랜드 사이트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3703320"/>
            <a:ext cx="2971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타이포 위계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이미지와 카피의 리듬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적당한 expressive motion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832104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Immersive Campaign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2542032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몰입과 기억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944368"/>
            <a:ext cx="3063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어워드, 프로모션, 인터랙티브 콘텐츠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3703320"/>
            <a:ext cx="2971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스크롤/전환 연출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공간감·깊이·장면 전환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성능/접근성 리스크 관리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49808" y="5833872"/>
            <a:ext cx="5029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98448" y="5769864"/>
            <a:ext cx="9784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화면은 사용성을 높이려는가, 브랜드를 각인하려는가, 몰입을 만들려는가?”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SYSTEM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기준 </a:t>
            </a:r>
            <a:r>
              <a:rPr lang="en-US" altLang="ko-KR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</a:t>
            </a:r>
            <a:r>
              <a:rPr lang="ko-KR" alt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유명한 디자인 시스템을 사용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시스템 문서를 “분석 프레임”으로 가져와 레퍼런스를 구현 언어로 번역합니다.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Material · Apple HIG · Fluent · Carbon · Atlassian · Ant · Polaris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80760" y="3822192"/>
            <a:ext cx="0" cy="0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080760" y="3822192"/>
            <a:ext cx="0" cy="0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80760" y="3822192"/>
            <a:ext cx="2194560" cy="0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80760" y="3822192"/>
            <a:ext cx="0" cy="886968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80760" y="3822192"/>
            <a:ext cx="0" cy="1298448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80760" y="3822192"/>
            <a:ext cx="2331720" cy="886968"/>
          </a:xfrm>
          <a:prstGeom prst="line">
            <a:avLst/>
          </a:prstGeom>
          <a:noFill/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3456432"/>
            <a:ext cx="2468880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판단 기준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 · type · color · state · motion · performance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828800" y="224028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Material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253288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 system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color · type · motion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0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Apple HIG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343400" y="230428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platform-native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 · accessibility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589520" y="224028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Fluent 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60920" y="253288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productivity UI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ramp · motion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1417320" y="457200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Carbon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88720" y="486460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productive / expressive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2x grid · motion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389120" y="498348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Atlassian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160520" y="527608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token discipline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8px · duration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726680" y="457200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Ant / Polaris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98080" y="4864608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implementation-friendly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components · themes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" y="594360"/>
            <a:ext cx="10835640" cy="0"/>
          </a:xfrm>
          <a:prstGeom prst="line">
            <a:avLst/>
          </a:prstGeom>
          <a:noFill/>
          <a:ln w="10160">
            <a:solidFill>
              <a:srgbClr val="2C2C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" y="594360"/>
            <a:ext cx="169164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9966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 · Type · Color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07899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EDED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화면의 뼈대와 읽히는 질서를 먼저 잡는다.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5705856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Foundation before effects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22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레이아웃은 배치가 아니라 관계 설계다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Grid, breakpoint, spacing, density, hierarchy가 화면을 읽히게 만듭니다.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Fluent layout · Carbon spacing · Atlassian spacing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4937760" cy="3474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645920" y="2148840"/>
            <a:ext cx="0" cy="347472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0" cy="347472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2148840"/>
            <a:ext cx="0" cy="347472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14800" y="2148840"/>
            <a:ext cx="0" cy="347472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937760" y="2148840"/>
            <a:ext cx="0" cy="347472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493776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493776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4937760" cy="0"/>
          </a:xfrm>
          <a:prstGeom prst="line">
            <a:avLst/>
          </a:prstGeom>
          <a:noFill/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88720" y="2532888"/>
            <a:ext cx="2057400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88720" y="3319272"/>
            <a:ext cx="3977640" cy="256032"/>
          </a:xfrm>
          <a:prstGeom prst="rect">
            <a:avLst/>
          </a:prstGeom>
          <a:solidFill>
            <a:srgbClr val="8D8D96"/>
          </a:solidFill>
          <a:ln w="12700">
            <a:solidFill>
              <a:srgbClr val="8D8D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88720" y="3739896"/>
            <a:ext cx="3337560" cy="256032"/>
          </a:xfrm>
          <a:prstGeom prst="rect">
            <a:avLst/>
          </a:prstGeom>
          <a:solidFill>
            <a:srgbClr val="8D8D96"/>
          </a:solidFill>
          <a:ln w="12700">
            <a:solidFill>
              <a:srgbClr val="8D8D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88720" y="4416552"/>
            <a:ext cx="1645920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88720" y="5074920"/>
            <a:ext cx="3840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spacing creates hierarchy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6288" y="2148840"/>
            <a:ext cx="4096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Grid</a:t>
            </a:r>
            <a:endParaRPr lang="en-US" sz="1740" dirty="0"/>
          </a:p>
        </p:txBody>
      </p:sp>
      <p:sp>
        <p:nvSpPr>
          <p:cNvPr id="26" name="Text 24"/>
          <p:cNvSpPr/>
          <p:nvPr/>
        </p:nvSpPr>
        <p:spPr>
          <a:xfrm>
            <a:off x="6876288" y="2459736"/>
            <a:ext cx="40965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column · gutter · margin으로 배치의 기준선을 만든다.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6492240" y="3017520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76288" y="2999232"/>
            <a:ext cx="4096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Spacing</a:t>
            </a:r>
            <a:endParaRPr lang="en-US" sz="1740" dirty="0"/>
          </a:p>
        </p:txBody>
      </p:sp>
      <p:sp>
        <p:nvSpPr>
          <p:cNvPr id="29" name="Text 27"/>
          <p:cNvSpPr/>
          <p:nvPr/>
        </p:nvSpPr>
        <p:spPr>
          <a:xfrm>
            <a:off x="6876288" y="3310128"/>
            <a:ext cx="40965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가까움과 멀어짐으로 정보의 관계를 만든다.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6492240" y="3867912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76288" y="3849624"/>
            <a:ext cx="4096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Density</a:t>
            </a:r>
            <a:endParaRPr lang="en-US" sz="1740" dirty="0"/>
          </a:p>
        </p:txBody>
      </p:sp>
      <p:sp>
        <p:nvSpPr>
          <p:cNvPr id="32" name="Text 30"/>
          <p:cNvSpPr/>
          <p:nvPr/>
        </p:nvSpPr>
        <p:spPr>
          <a:xfrm>
            <a:off x="6876288" y="4160520"/>
            <a:ext cx="40965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업무용 UI는 조밀해도 읽혀야 하고, 캠페인은 여백으로 호흡을 만든다.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492240" y="4718304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6288" y="4700016"/>
            <a:ext cx="4096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Responsive</a:t>
            </a:r>
            <a:endParaRPr lang="en-US" sz="1740" dirty="0"/>
          </a:p>
        </p:txBody>
      </p:sp>
      <p:sp>
        <p:nvSpPr>
          <p:cNvPr id="35" name="Text 33"/>
          <p:cNvSpPr/>
          <p:nvPr/>
        </p:nvSpPr>
        <p:spPr>
          <a:xfrm>
            <a:off x="6876288" y="5010912"/>
            <a:ext cx="40965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크기가 바뀌면 재배치, 재흐름, show/hide를 설계한다.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6510528" y="5669280"/>
            <a:ext cx="841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합의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5605272"/>
            <a:ext cx="3474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4px 또는 8px 기반 spacing scale을 먼저 정하고 예외를 줄인다.</a:t>
            </a:r>
            <a:endParaRPr lang="en-US" sz="135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12D57D53-68FD-836E-CC47-B8140074CA45}"/>
              </a:ext>
            </a:extLst>
          </p:cNvPr>
          <p:cNvSpPr/>
          <p:nvPr/>
        </p:nvSpPr>
        <p:spPr>
          <a:xfrm>
            <a:off x="4537848" y="6263640"/>
            <a:ext cx="4096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sz="1740" b="1" dirty="0">
                <a:solidFill>
                  <a:srgbClr val="111111"/>
                </a:solidFill>
                <a:latin typeface="Noto Sans CJK KR" pitchFamily="34" charset="0"/>
              </a:rPr>
              <a:t>Example</a:t>
            </a:r>
            <a:endParaRPr lang="en-US" sz="174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0B8F218B-49A1-1D64-B655-95CA0FFF3F88}"/>
              </a:ext>
            </a:extLst>
          </p:cNvPr>
          <p:cNvSpPr/>
          <p:nvPr/>
        </p:nvSpPr>
        <p:spPr>
          <a:xfrm>
            <a:off x="4537848" y="6529807"/>
            <a:ext cx="40965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ko-KR" altLang="en-US" sz="1200" dirty="0" err="1"/>
              <a:t>https</a:t>
            </a:r>
            <a:r>
              <a:rPr lang="ko-KR" altLang="en-US" sz="1200" dirty="0"/>
              <a:t>://</a:t>
            </a:r>
            <a:r>
              <a:rPr lang="ko-KR" altLang="en-US" sz="1200" dirty="0" err="1"/>
              <a:t>landonorris.com</a:t>
            </a:r>
            <a:r>
              <a:rPr lang="ko-KR" altLang="en-US" sz="1200" dirty="0"/>
              <a:t>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TYPOGRAPHY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폰트보다 먼저 “역할”을 정한다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타이포그래피는 type scale, role, line-height, readability, contrast의 시스템입니다.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Material typography · Fluent type ramp · Carbon typography · Atlassian typography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840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Display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657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Headline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1248" y="3520440"/>
            <a:ext cx="4937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Body text는 긴 문장을 안정적으로 읽게 만든다.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Label / caption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0" cy="3108960"/>
          </a:xfrm>
          <a:prstGeom prst="line">
            <a:avLst/>
          </a:prstGeom>
          <a:noFill/>
          <a:ln w="1397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720840" y="2148840"/>
            <a:ext cx="3291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Productive type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9128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수행, 정보 탐색, 반복 사용에 적합한 타이포 리듬. 본문과 UI 라벨은 예측 가능해야 한다.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13632"/>
            <a:ext cx="3291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Expressive type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39128" y="4462272"/>
            <a:ext cx="39319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브랜드, 캠페인, 히어로 섹션에서 강한 인상을 만든다. 단, body copy는 다시 안정된 리듬으로 돌아와야 한다.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10149840" cy="329184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시작점: 제목 / 본문 / 보조 / 버튼·라벨 4단계만 먼저 고정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FONT &amp;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폰트는 미학 선택이면서 성능 선택이다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브랜드성, 가독성, 로딩 전략을 동시에 봐야 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Fluent typography · web.dev font best practices · MDN font-display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font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익숙함과 접근성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렌더링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Brand font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차별화와 기억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크기와 CLS 위험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Variable font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다양한 weight/width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활용 범위가 중요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63240" y="2395728"/>
            <a:ext cx="4114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0" y="2395728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68680" y="3977640"/>
            <a:ext cx="10149840" cy="0"/>
          </a:xfrm>
          <a:prstGeom prst="line">
            <a:avLst/>
          </a:prstGeom>
          <a:noFill/>
          <a:ln w="1524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체크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4343400"/>
            <a:ext cx="6400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본문 기본 크기와 line-height가 충분한가?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critical font preload가 필요한가?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3) font-display 전략으로 FOIT/FOUT/CLS를 관리했는가?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61120" y="4315968"/>
            <a:ext cx="2103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폰트가 늦게 오면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“디자인”도 늦게 온다.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COLOR &amp; STATE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색은 예쁜 값이 아니라 의미의 토큰이다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흑백 중심 화면에서도 semantic color와 state 표현이 필요합니다.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Material color roles · Fluent color tokens · WCAG contrast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Surface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Text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606040"/>
            <a:ext cx="201168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201168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66760" y="2194560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66760" y="2606040"/>
            <a:ext cx="2011680" cy="1554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59368" y="2907792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hover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focus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pressed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05840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색을 직접 고르지 말고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역할을 고른다.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4919472"/>
            <a:ext cx="6172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텍스트는 충분한 대비를 확보하고, 색만으로 상태를 구분하지 않는다.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보라색은 핵심 행동과 강조에만 남긴다.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" y="594360"/>
            <a:ext cx="10835640" cy="0"/>
          </a:xfrm>
          <a:prstGeom prst="line">
            <a:avLst/>
          </a:prstGeom>
          <a:noFill/>
          <a:ln w="10160">
            <a:solidFill>
              <a:srgbClr val="2C2C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" y="594360"/>
            <a:ext cx="169164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9966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Motion · Interaction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07899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EDED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모션은 장식이 아니라 변화의 의미를 설명하는 시스템이다.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5705856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Purpose · duration · easing · choreography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 / 22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MOTION PURPOSE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모션을 넣기 전에 목적을 먼저 말한다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모션은 사용자가 “무엇이 바뀌었는지”와 “다음에 무엇을 해야 하는지”를 이해하게 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Fluent motion · Carbon motion · Atlassian motion · Ant Design motion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63040" y="4023360"/>
            <a:ext cx="9052560" cy="0"/>
          </a:xfrm>
          <a:prstGeom prst="line">
            <a:avLst/>
          </a:prstGeom>
          <a:noFill/>
          <a:ln w="1397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35024" y="3913632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클릭·호버·입력에 즉시 반응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123944" y="3913632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1188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Continuity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전환에서 맥락을 유지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912864" y="3913632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Hierarchy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시선이 가야 할 순서를 안내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9701784" y="3913632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8972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Delight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브랜드와 감정의 순간을 만든다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100584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하나로 검증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1800" y="4919472"/>
            <a:ext cx="6629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모션을 제거하면 사용자가 잃는 정보가 있는가?”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35440" y="5349240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없다면 줄이거나 제거한다.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속도는 감이 아니라 범위로 관리한다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상호작용은 짧게, 큰 전환은 조금 더 길게 잡아야 같은 속도감으로 느껴집니다.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Atlassian 50–150/150–400 · Carbon 70/110/150/240/400/700 · Material duration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0058400" cy="0"/>
          </a:xfrm>
          <a:prstGeom prst="line">
            <a:avLst/>
          </a:prstGeom>
          <a:noFill/>
          <a:ln w="762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762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0" y="3657600"/>
            <a:ext cx="2194560" cy="0"/>
          </a:xfrm>
          <a:prstGeom prst="line">
            <a:avLst/>
          </a:prstGeom>
          <a:noFill/>
          <a:ln w="762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937760" y="3657600"/>
            <a:ext cx="2834640" cy="0"/>
          </a:xfrm>
          <a:prstGeom prst="line">
            <a:avLst/>
          </a:prstGeom>
          <a:noFill/>
          <a:ln w="76200">
            <a:solidFill>
              <a:srgbClr val="8D8D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0" y="3657600"/>
            <a:ext cx="3200400" cy="0"/>
          </a:xfrm>
          <a:prstGeom prst="line">
            <a:avLst/>
          </a:prstGeom>
          <a:noFill/>
          <a:ln w="76200">
            <a:solidFill>
              <a:srgbClr val="D0CA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3337560"/>
            <a:ext cx="0" cy="64008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4672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70–150ms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04672" y="262432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hover / press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71800" y="3337560"/>
            <a:ext cx="0" cy="64008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862072" y="265176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150–240ms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2862072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dropdown / toast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20640" y="3337560"/>
            <a:ext cx="0" cy="64008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10912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200–400ms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5010912" y="262432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modal / panel / page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0" y="3337560"/>
            <a:ext cx="0" cy="640080"/>
          </a:xfrm>
          <a:prstGeom prst="line">
            <a:avLst/>
          </a:prstGeom>
          <a:noFill/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62672" y="265176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400–700ms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7662672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dimming / hero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스터디 starter preset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4983480"/>
            <a:ext cx="6035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 120ms · mid 200ms · slow 320ms · xl 480ms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EASING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부드러움은 “가속과 감속”에서 나온다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linear는 대부분 자연스럽지 않습니다. 입장, 상태 변화, 퇴장에 다른 곡선을 씁니다.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Carbon easing · Atlassian easing · Fluent easing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25880" y="2743200"/>
            <a:ext cx="201168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201168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641080" y="2743200"/>
            <a:ext cx="2011680" cy="0"/>
          </a:xfrm>
          <a:prstGeom prst="line">
            <a:avLst/>
          </a:prstGeom>
          <a:noFill/>
          <a:ln w="25400">
            <a:solidFill>
              <a:srgbClr val="5E5E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2103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나타나고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부드럽게 멈춘다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ease-out / entrance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2121408"/>
            <a:ext cx="2103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보이는 상태에서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관계가 변한다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 / ease-in-out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3880" y="2121408"/>
            <a:ext cx="2103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Exit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8388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느리게 시작해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빠져나간다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83880" y="3968496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ease-in / exit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389119"/>
            <a:ext cx="8046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규칙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4279391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입장 = 목적지에 부드럽게 착지 / 퇴장 = 빠르게 길을 비켜줌 / 위치·크기 변화 = 맥락을 잃지 않게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929ECFE-B025-2AA0-3628-D19419DB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24" y="4571999"/>
            <a:ext cx="3686552" cy="2103121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1A81E2DD-2C06-2F86-2F47-632BCEAD16F6}"/>
              </a:ext>
            </a:extLst>
          </p:cNvPr>
          <p:cNvSpPr/>
          <p:nvPr/>
        </p:nvSpPr>
        <p:spPr>
          <a:xfrm>
            <a:off x="411480" y="5303521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ko-KR" alt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참조 </a:t>
            </a:r>
            <a:r>
              <a:rPr lang="en-US" altLang="ko-KR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</a:t>
            </a:r>
            <a:r>
              <a:rPr lang="ko-KR" alt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https://m3.material.io/styles/motion/overview/how-it-works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SMOOTHNESS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부드러운 애니메이션은 프레임 예산 문제다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60fps 기준으로 한 프레임은 약 16.7ms입니다. 이 안에 계산과 렌더링이 끝나야 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MDN animation performance · web.dev animations guide · Core Web Vitals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3931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16.7ms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 frame at 60fps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2304288"/>
            <a:ext cx="868680" cy="475488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0" y="245059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355080" y="2304288"/>
            <a:ext cx="1417320" cy="475488"/>
          </a:xfrm>
          <a:prstGeom prst="roundRect">
            <a:avLst/>
          </a:prstGeom>
          <a:solidFill>
            <a:srgbClr val="5E5E66"/>
          </a:solidFill>
          <a:ln w="12700">
            <a:solidFill>
              <a:srgbClr val="5E5E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245059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Style/Layout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955280" y="2304288"/>
            <a:ext cx="868680" cy="475488"/>
          </a:xfrm>
          <a:prstGeom prst="roundRect">
            <a:avLst/>
          </a:prstGeom>
          <a:solidFill>
            <a:srgbClr val="8D8D96"/>
          </a:solidFill>
          <a:ln w="12700">
            <a:solidFill>
              <a:srgbClr val="8D8D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955280" y="2450592"/>
            <a:ext cx="868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Paint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006840" y="2304288"/>
            <a:ext cx="1554480" cy="47548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006840" y="2450592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Composite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257800" y="3246120"/>
            <a:ext cx="5212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가능하면 transform / opacity 중심으로 움직인다.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57800" y="3685032"/>
            <a:ext cx="5349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top/left, width/height, 무거운 filter/box-shadow는 layout·paint 비용을 키운다.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6112" y="4526280"/>
            <a:ext cx="10076688" cy="0"/>
          </a:xfrm>
          <a:prstGeom prst="line">
            <a:avLst/>
          </a:prstGeom>
          <a:noFill/>
          <a:ln w="1397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Web Vitals 감각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4901184"/>
            <a:ext cx="5715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LCP ≤ 2.5s     INP ≤ 200ms     CLS ≤ 0.1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모션은 줄여도 의미가 살아야 한다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접근성은 별도 과제가 아니라 모션과 타이포그래피의 기본 조건입니다.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MDN prefers-reduced-motion · WCAG contrast · WCAG animation from interactions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 / 22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prefers-reduced-motion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6309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이동, parallax, 강한 scale은 줄인 대안을 제공한다.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944368"/>
            <a:ext cx="320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Contrast minimum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2990088"/>
            <a:ext cx="6309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텍스트는 충분한 명암 대비를 확보한다. 색만으로 상태를 말하지 않는다.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Resize 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80560" y="3831336"/>
            <a:ext cx="6309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확대 시 내용과 기능이 깨지지 않도록 고정 높이와 이미지 텍스트를 조심한다.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626864"/>
            <a:ext cx="320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464515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forced waiting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4672584"/>
            <a:ext cx="6309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애니메이션이 다음 행동을 막는다면 의미를 증명하거나 줄인다.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5650992"/>
            <a:ext cx="9966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모션은 모든 사람이 편안하게 이해할 수 있어야 한다.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502920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 STARTER KIT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속도와 곡선을 변수로 먼저 만든다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효과를 많이 넣기 전에 질서를 먼저 만든다.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766560" cy="3639312"/>
          </a:xfrm>
          <a:prstGeom prst="rect">
            <a:avLst/>
          </a:prstGeom>
          <a:solidFill>
            <a:srgbClr val="15151B"/>
          </a:solidFill>
          <a:ln w="12700">
            <a:solidFill>
              <a:srgbClr val="2E2E36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 motion = {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fast: '120ms',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mid: '200ms',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slow: '320ms',</a:t>
            </a:r>
            <a:endParaRPr lang="en-US" sz="1230" dirty="0"/>
          </a:p>
          <a:p>
            <a:pPr marL="0" indent="0" algn="l">
              <a:buNone/>
            </a:pP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enter: 'cubic-bezier(0, 0, 0.38, 0.9)',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standard: 'cubic-bezier(0.4, 0, 0, 1)',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exit: 'cubic-bezier(0.2, 0, 1, 0.9)',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};</a:t>
            </a:r>
            <a:endParaRPr lang="en-US" sz="1230" dirty="0"/>
          </a:p>
          <a:p>
            <a:pPr marL="0" indent="0" algn="l">
              <a:buNone/>
            </a:pP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 modalTransition =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'transform ' + motion.slow + ' ' + motion.enter + ', ' +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EFEF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'opacity ' + motion.slow + ' ' + motion.standard;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827532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순서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75320" y="2697480"/>
            <a:ext cx="2834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HTML 구조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디자인 토큰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CSS transition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JS trigger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성능·접근성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7532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B8B8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공통값에서 시작하고, 레퍼런스의 성격에 맞춰 조정한다.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 / 22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WORKSHEET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레퍼런스를 볼 때 캡처 옆에 주석을 붙인다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스크린샷을 예쁜 예시로만 쓰지 말고 구현할 요소로 해체합니다.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084832"/>
            <a:ext cx="44805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Reference screenshot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2788920"/>
            <a:ext cx="30175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51560" y="3584448"/>
            <a:ext cx="2286000" cy="237744"/>
          </a:xfrm>
          <a:prstGeom prst="rect">
            <a:avLst/>
          </a:prstGeom>
          <a:solidFill>
            <a:srgbClr val="8D8D96"/>
          </a:solidFill>
          <a:ln w="12700">
            <a:solidFill>
              <a:srgbClr val="8D8D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1560" y="4041648"/>
            <a:ext cx="3291840" cy="237744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51560" y="4645152"/>
            <a:ext cx="1371600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97880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Layout 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grid · spacing · density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852160" y="2441448"/>
            <a:ext cx="5212080" cy="0"/>
          </a:xfrm>
          <a:prstGeom prst="line">
            <a:avLst/>
          </a:prstGeom>
          <a:noFill/>
          <a:ln w="1016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2752344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 role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2770632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display / headline / body / label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852160" y="3136392"/>
            <a:ext cx="5212080" cy="0"/>
          </a:xfrm>
          <a:prstGeom prst="line">
            <a:avLst/>
          </a:prstGeom>
          <a:noFill/>
          <a:ln w="1016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3447288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Motion purpose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6676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feedback / continuity / hierarchy / delight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5852160" y="3831336"/>
            <a:ext cx="5212080" cy="0"/>
          </a:xfrm>
          <a:prstGeom prst="line">
            <a:avLst/>
          </a:prstGeom>
          <a:noFill/>
          <a:ln w="1016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414223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Trigger &amp; property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6676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scroll / click / hover · transform / opacity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852160" y="4526280"/>
            <a:ext cx="5212080" cy="0"/>
          </a:xfrm>
          <a:prstGeom prst="line">
            <a:avLst/>
          </a:prstGeom>
          <a:noFill/>
          <a:ln w="1016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7880" y="4837176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66760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CLS · INP · font loading · reduced motion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852160" y="5221224"/>
            <a:ext cx="5212080" cy="0"/>
          </a:xfrm>
          <a:prstGeom prst="line">
            <a:avLst/>
          </a:prstGeom>
          <a:noFill/>
          <a:ln w="1016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1440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발표자는 “어떤 효과를 구현했는가”보다 “어떤 기준으로 분해했는가”를 먼저 설명한다.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STUDY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7주 동안 반복할 작은 루프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리서치, 분석, 구현, 자산화를 반복하면 결과물이 재사용 가능한 형태로 남습니다.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48840" y="3474720"/>
            <a:ext cx="9144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297680" y="3474720"/>
            <a:ext cx="9144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46520" y="3474720"/>
            <a:ext cx="9144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595360" y="3474720"/>
            <a:ext cx="9144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435608" y="33284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레퍼런스 탐색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3584448" y="33284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2608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Dissect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8892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레이아웃·타입·모션 분해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5733288" y="332841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AI와 함께 구현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882128" y="33284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2376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Extract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위젯·컴포넌트화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10030968" y="33284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372600" y="2606040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Share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35440" y="3886200"/>
            <a:ext cx="1874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2회 발표 목표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1508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회차 공유 방식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5166360"/>
            <a:ext cx="7452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선정한 레퍼런스 → 분석한 요소 → 구현한 코드 → 재사용 가능한 형태로 정리한 결과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OFFICIAL REFERENCES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디자인 시스템 링크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 본문은 요약이고, 세부 수치는 공식 문서를 기준으로 다시 확인합니다.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Material Design 3</a:t>
            </a:r>
            <a:endParaRPr lang="en-US" sz="96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822960" y="2048256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https://m3.material.io/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Material typography</a:t>
            </a:r>
            <a:endParaRPr lang="en-US" sz="960" dirty="0"/>
          </a:p>
        </p:txBody>
      </p:sp>
      <p:sp>
        <p:nvSpPr>
          <p:cNvPr id="12" name="Text 10">
            <a:hlinkClick r:id="rId4"/>
          </p:cNvPr>
          <p:cNvSpPr/>
          <p:nvPr/>
        </p:nvSpPr>
        <p:spPr>
          <a:xfrm>
            <a:off x="822960" y="2670048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https://m3.material.io/styles/typography/applying-type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Material motion</a:t>
            </a:r>
            <a:endParaRPr lang="en-US" sz="960" dirty="0"/>
          </a:p>
        </p:txBody>
      </p:sp>
      <p:sp>
        <p:nvSpPr>
          <p:cNvPr id="14" name="Text 12">
            <a:hlinkClick r:id="rId5"/>
          </p:cNvPr>
          <p:cNvSpPr/>
          <p:nvPr/>
        </p:nvSpPr>
        <p:spPr>
          <a:xfrm>
            <a:off x="822960" y="3291840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https://m3.material.io/styles/motion/easing-and-duration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Apple Human Interface Guidelines</a:t>
            </a:r>
            <a:endParaRPr lang="en-US" sz="960" dirty="0"/>
          </a:p>
        </p:txBody>
      </p:sp>
      <p:sp>
        <p:nvSpPr>
          <p:cNvPr id="16" name="Text 14">
            <a:hlinkClick r:id="rId6"/>
          </p:cNvPr>
          <p:cNvSpPr/>
          <p:nvPr/>
        </p:nvSpPr>
        <p:spPr>
          <a:xfrm>
            <a:off x="822960" y="3913632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https://developer.apple.com/design/human-interface-guidelines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Apple HIG typography</a:t>
            </a:r>
            <a:endParaRPr lang="en-US" sz="960" dirty="0"/>
          </a:p>
        </p:txBody>
      </p:sp>
      <p:sp>
        <p:nvSpPr>
          <p:cNvPr id="18" name="Text 16">
            <a:hlinkClick r:id="rId7"/>
          </p:cNvPr>
          <p:cNvSpPr/>
          <p:nvPr/>
        </p:nvSpPr>
        <p:spPr>
          <a:xfrm>
            <a:off x="822960" y="4535424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https://developer.apple.com/design/human-interface-guidelines/typography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Apple HIG motion</a:t>
            </a:r>
            <a:endParaRPr lang="en-US" sz="960" dirty="0"/>
          </a:p>
        </p:txBody>
      </p:sp>
      <p:sp>
        <p:nvSpPr>
          <p:cNvPr id="20" name="Text 18">
            <a:hlinkClick r:id="rId8"/>
          </p:cNvPr>
          <p:cNvSpPr/>
          <p:nvPr/>
        </p:nvSpPr>
        <p:spPr>
          <a:xfrm>
            <a:off x="822960" y="5157216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https://developer.apple.com/design/human-interface-guidelines/motion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Fluent 2 typography</a:t>
            </a:r>
            <a:endParaRPr lang="en-US" sz="960" dirty="0"/>
          </a:p>
        </p:txBody>
      </p:sp>
      <p:sp>
        <p:nvSpPr>
          <p:cNvPr id="22" name="Text 20">
            <a:hlinkClick r:id="rId9"/>
          </p:cNvPr>
          <p:cNvSpPr/>
          <p:nvPr/>
        </p:nvSpPr>
        <p:spPr>
          <a:xfrm>
            <a:off x="6400800" y="2048256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https://fluent2.microsoft.design/typography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400800" y="2496312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Fluent 2 layout</a:t>
            </a:r>
            <a:endParaRPr lang="en-US" sz="960" dirty="0"/>
          </a:p>
        </p:txBody>
      </p:sp>
      <p:sp>
        <p:nvSpPr>
          <p:cNvPr id="24" name="Text 22">
            <a:hlinkClick r:id="rId10"/>
          </p:cNvPr>
          <p:cNvSpPr/>
          <p:nvPr/>
        </p:nvSpPr>
        <p:spPr>
          <a:xfrm>
            <a:off x="6400800" y="2670048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https://fluent2.microsoft.design/layout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00800" y="3118104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Fluent 2 motion</a:t>
            </a:r>
            <a:endParaRPr lang="en-US" sz="960" dirty="0"/>
          </a:p>
        </p:txBody>
      </p:sp>
      <p:sp>
        <p:nvSpPr>
          <p:cNvPr id="26" name="Text 24">
            <a:hlinkClick r:id="rId11"/>
          </p:cNvPr>
          <p:cNvSpPr/>
          <p:nvPr/>
        </p:nvSpPr>
        <p:spPr>
          <a:xfrm>
            <a:off x="6400800" y="3291840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https://fluent2.microsoft.design/motion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400800" y="3739896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Carbon spacing</a:t>
            </a:r>
            <a:endParaRPr lang="en-US" sz="960" dirty="0"/>
          </a:p>
        </p:txBody>
      </p:sp>
      <p:sp>
        <p:nvSpPr>
          <p:cNvPr id="28" name="Text 26">
            <a:hlinkClick r:id="rId12"/>
          </p:cNvPr>
          <p:cNvSpPr/>
          <p:nvPr/>
        </p:nvSpPr>
        <p:spPr>
          <a:xfrm>
            <a:off x="6400800" y="3913632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https://carbondesignsystem.com/elements/spacing/overview/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400800" y="4361688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Carbon motion</a:t>
            </a:r>
            <a:endParaRPr lang="en-US" sz="960" dirty="0"/>
          </a:p>
        </p:txBody>
      </p:sp>
      <p:sp>
        <p:nvSpPr>
          <p:cNvPr id="30" name="Text 28">
            <a:hlinkClick r:id="rId13"/>
          </p:cNvPr>
          <p:cNvSpPr/>
          <p:nvPr/>
        </p:nvSpPr>
        <p:spPr>
          <a:xfrm>
            <a:off x="6400800" y="4535424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https://carbondesignsystem.com/elements/motion/overview/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400800" y="4983480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Atlassian motion</a:t>
            </a:r>
            <a:endParaRPr lang="en-US" sz="960" dirty="0"/>
          </a:p>
        </p:txBody>
      </p:sp>
      <p:sp>
        <p:nvSpPr>
          <p:cNvPr id="32" name="Text 30">
            <a:hlinkClick r:id="rId14"/>
          </p:cNvPr>
          <p:cNvSpPr/>
          <p:nvPr/>
        </p:nvSpPr>
        <p:spPr>
          <a:xfrm>
            <a:off x="6400800" y="5157216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https://atlassian.design/foundations/motion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OFFICIAL REFERENCES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9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구현·성능·접근성·레퍼런스 링크</a:t>
            </a:r>
            <a:endParaRPr lang="en-US" sz="292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9784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구현 단계에서 다시 열어볼 공식 문서와 레퍼런스 채널입니다.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10972800" cy="0"/>
          </a:xfrm>
          <a:prstGeom prst="line">
            <a:avLst/>
          </a:prstGeom>
          <a:noFill/>
          <a:ln w="11430">
            <a:solidFill>
              <a:srgbClr val="E7E3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46304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881360" y="647395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8D8D9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 / 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MDN animation performance</a:t>
            </a:r>
            <a:endParaRPr lang="en-US" sz="96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822960" y="2048256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https://developer.mozilla.org/en-US/docs/Web/Performance/Guides/Animation_performance_and_frame_rate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web.dev CSS animation performance</a:t>
            </a:r>
            <a:endParaRPr lang="en-US" sz="960" dirty="0"/>
          </a:p>
        </p:txBody>
      </p:sp>
      <p:sp>
        <p:nvSpPr>
          <p:cNvPr id="12" name="Text 10">
            <a:hlinkClick r:id="rId4"/>
          </p:cNvPr>
          <p:cNvSpPr/>
          <p:nvPr/>
        </p:nvSpPr>
        <p:spPr>
          <a:xfrm>
            <a:off x="822960" y="2670048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https://web.dev/articles/animations-guide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MDN requestAnimationFrame</a:t>
            </a:r>
            <a:endParaRPr lang="en-US" sz="960" dirty="0"/>
          </a:p>
        </p:txBody>
      </p:sp>
      <p:sp>
        <p:nvSpPr>
          <p:cNvPr id="14" name="Text 12">
            <a:hlinkClick r:id="rId5"/>
          </p:cNvPr>
          <p:cNvSpPr/>
          <p:nvPr/>
        </p:nvSpPr>
        <p:spPr>
          <a:xfrm>
            <a:off x="822960" y="3291840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https://developer.mozilla.org/en-US/docs/Web/API/Window/requestAnimationFrame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MDN prefers-reduced-motion</a:t>
            </a:r>
            <a:endParaRPr lang="en-US" sz="960" dirty="0"/>
          </a:p>
        </p:txBody>
      </p:sp>
      <p:sp>
        <p:nvSpPr>
          <p:cNvPr id="16" name="Text 14">
            <a:hlinkClick r:id="rId6"/>
          </p:cNvPr>
          <p:cNvSpPr/>
          <p:nvPr/>
        </p:nvSpPr>
        <p:spPr>
          <a:xfrm>
            <a:off x="822960" y="3913632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https://developer.mozilla.org/en-US/docs/Web/CSS/Reference/At-rules/%40media/prefers-reduced-motion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web.dev Core Web Vitals</a:t>
            </a:r>
            <a:endParaRPr lang="en-US" sz="960" dirty="0"/>
          </a:p>
        </p:txBody>
      </p:sp>
      <p:sp>
        <p:nvSpPr>
          <p:cNvPr id="18" name="Text 16">
            <a:hlinkClick r:id="rId7"/>
          </p:cNvPr>
          <p:cNvSpPr/>
          <p:nvPr/>
        </p:nvSpPr>
        <p:spPr>
          <a:xfrm>
            <a:off x="822960" y="4535424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https://web.dev/articles/vitals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WCAG contrast minimum</a:t>
            </a:r>
            <a:endParaRPr lang="en-US" sz="960" dirty="0"/>
          </a:p>
        </p:txBody>
      </p:sp>
      <p:sp>
        <p:nvSpPr>
          <p:cNvPr id="20" name="Text 18">
            <a:hlinkClick r:id="rId8"/>
          </p:cNvPr>
          <p:cNvSpPr/>
          <p:nvPr/>
        </p:nvSpPr>
        <p:spPr>
          <a:xfrm>
            <a:off x="822960" y="5157216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https://www.w3.org/WAI/WCAG20/Understanding/contrast-minimum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Ant Design motion</a:t>
            </a:r>
            <a:endParaRPr lang="en-US" sz="960" dirty="0"/>
          </a:p>
        </p:txBody>
      </p:sp>
      <p:sp>
        <p:nvSpPr>
          <p:cNvPr id="22" name="Text 20">
            <a:hlinkClick r:id="rId9"/>
          </p:cNvPr>
          <p:cNvSpPr/>
          <p:nvPr/>
        </p:nvSpPr>
        <p:spPr>
          <a:xfrm>
            <a:off x="6400800" y="2048256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https://ant.design/docs/spec/motion/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400800" y="2496312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Ant Design grid</a:t>
            </a:r>
            <a:endParaRPr lang="en-US" sz="960" dirty="0"/>
          </a:p>
        </p:txBody>
      </p:sp>
      <p:sp>
        <p:nvSpPr>
          <p:cNvPr id="24" name="Text 22">
            <a:hlinkClick r:id="rId10"/>
          </p:cNvPr>
          <p:cNvSpPr/>
          <p:nvPr/>
        </p:nvSpPr>
        <p:spPr>
          <a:xfrm>
            <a:off x="6400800" y="2670048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https://ant.design/components/grid/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00800" y="3118104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Shopify Polaris</a:t>
            </a:r>
            <a:endParaRPr lang="en-US" sz="960" dirty="0"/>
          </a:p>
        </p:txBody>
      </p:sp>
      <p:sp>
        <p:nvSpPr>
          <p:cNvPr id="26" name="Text 24">
            <a:hlinkClick r:id="rId11"/>
          </p:cNvPr>
          <p:cNvSpPr/>
          <p:nvPr/>
        </p:nvSpPr>
        <p:spPr>
          <a:xfrm>
            <a:off x="6400800" y="3291840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https://shopify.dev/docs/api/polaris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400800" y="3739896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 Tokens CG</a:t>
            </a:r>
            <a:endParaRPr lang="en-US" sz="960" dirty="0"/>
          </a:p>
        </p:txBody>
      </p:sp>
      <p:sp>
        <p:nvSpPr>
          <p:cNvPr id="28" name="Text 26">
            <a:hlinkClick r:id="rId12"/>
          </p:cNvPr>
          <p:cNvSpPr/>
          <p:nvPr/>
        </p:nvSpPr>
        <p:spPr>
          <a:xfrm>
            <a:off x="6400800" y="3913632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https://www.w3.org/community/design-tokens/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400800" y="4361688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Awwwards</a:t>
            </a:r>
            <a:endParaRPr lang="en-US" sz="960" dirty="0"/>
          </a:p>
        </p:txBody>
      </p:sp>
      <p:sp>
        <p:nvSpPr>
          <p:cNvPr id="30" name="Text 28">
            <a:hlinkClick r:id="rId13"/>
          </p:cNvPr>
          <p:cNvSpPr/>
          <p:nvPr/>
        </p:nvSpPr>
        <p:spPr>
          <a:xfrm>
            <a:off x="6400800" y="4535424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https://www.awwwards.com/websites/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400800" y="4983480"/>
            <a:ext cx="5303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CSS Design Awards</a:t>
            </a:r>
            <a:endParaRPr lang="en-US" sz="960" dirty="0"/>
          </a:p>
        </p:txBody>
      </p:sp>
      <p:sp>
        <p:nvSpPr>
          <p:cNvPr id="32" name="Text 30">
            <a:hlinkClick r:id="rId14"/>
          </p:cNvPr>
          <p:cNvSpPr/>
          <p:nvPr/>
        </p:nvSpPr>
        <p:spPr>
          <a:xfrm>
            <a:off x="6400800" y="5157216"/>
            <a:ext cx="53035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u="sng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https://www.cssdesignawards.com/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22960" y="5870448"/>
            <a:ext cx="7863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5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리서치 채널: Red Dot · iF Design Award · IDEA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E702-E91C-A6B8-8C4C-96A51361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87FDB2-1006-2C1A-4E56-26526C9EA1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E7C986-8C58-0695-1683-0D379BB7B5D6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AB7E2C-A3A4-60FA-7008-E37D9940742B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A4C137-3CBD-CA11-A19B-C52221ABBE96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B9DB41-6A74-5247-8998-BA61853DE692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3.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누가하나</a:t>
            </a:r>
            <a:r>
              <a:rPr lang="en-US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우리가 한다</a:t>
            </a:r>
            <a:endParaRPr lang="en-US" altLang="ko-KR" sz="7000" b="1" dirty="0">
              <a:solidFill>
                <a:srgbClr val="FFFFFF"/>
              </a:solidFill>
              <a:latin typeface="Noto Sans CJK KR" pitchFamily="34" charset="0"/>
            </a:endParaRP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6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명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잘 완주하자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파이팅</a:t>
            </a: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09118F5-820D-85B6-A5C9-9497D0B42C1E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861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0B5A-CAF9-FECE-A58D-056CCFC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6FF0F9-0112-105F-A5B4-0791B1D0711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AC2C72-9A3F-7099-6C6E-9ED1DA3F244B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681162-2BAD-D8C8-1CF9-9307B2F731AB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2428AC-9EEF-E046-C086-890B1E26F36F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16E6B5-AF65-DD39-1237-BBC8A5F05CE5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4.</a:t>
            </a:r>
            <a:r>
              <a:rPr lang="ko-KR" altLang="en-US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 </a:t>
            </a:r>
            <a:r>
              <a:rPr lang="ko-KR" altLang="en-US" sz="7000" b="1">
                <a:solidFill>
                  <a:srgbClr val="FFFFFF"/>
                </a:solidFill>
                <a:latin typeface="Noto Sans CJK KR"/>
                <a:ea typeface="맑은 고딕"/>
              </a:rPr>
              <a:t>언제하나</a:t>
            </a:r>
            <a:r>
              <a:rPr lang="en-US" sz="7000" b="1" dirty="0">
                <a:solidFill>
                  <a:srgbClr val="FFFFFF"/>
                </a:solidFill>
                <a:latin typeface="Noto Sans CJK KR"/>
              </a:rPr>
              <a:t>?</a:t>
            </a: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매주 너무 </a:t>
            </a:r>
            <a:r>
              <a:rPr lang="ko-KR" altLang="en-US" sz="7000" b="1">
                <a:solidFill>
                  <a:srgbClr val="FFFFFF"/>
                </a:solidFill>
                <a:latin typeface="Noto Sans CJK KR"/>
                <a:ea typeface="맑은 고딕"/>
              </a:rPr>
              <a:t>빡셈</a:t>
            </a: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.</a:t>
            </a:r>
            <a:r>
              <a:rPr lang="ko-KR" altLang="en-US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 못함 </a:t>
            </a:r>
            <a:r>
              <a:rPr lang="ko-KR" altLang="en-US" sz="7000" b="1">
                <a:solidFill>
                  <a:srgbClr val="FFFFFF"/>
                </a:solidFill>
                <a:latin typeface="Noto Sans CJK KR"/>
                <a:ea typeface="맑은 고딕"/>
              </a:rPr>
              <a:t>ㅜㅠ</a:t>
            </a:r>
            <a:endParaRPr lang="en-US" altLang="ko-KR" sz="7000" b="1">
              <a:solidFill>
                <a:srgbClr val="FFFFFF"/>
              </a:solidFill>
              <a:latin typeface="Noto Sans CJK KR"/>
              <a:ea typeface="맑은 고딕"/>
            </a:endParaRP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격주 어떨까요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</a:p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6/2,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</a:t>
            </a:r>
            <a:endParaRPr lang="en-US" altLang="ko-KR" sz="7000" b="1" dirty="0">
              <a:solidFill>
                <a:srgbClr val="FFFFFF"/>
              </a:solidFill>
              <a:latin typeface="Noto Sans CJK KR" pitchFamily="34" charset="0"/>
            </a:endParaRP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발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표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자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정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하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기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!</a:t>
            </a:r>
          </a:p>
          <a:p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6/16,</a:t>
            </a:r>
            <a:r>
              <a:rPr lang="ko-KR" altLang="en-US" sz="7000" b="1">
                <a:solidFill>
                  <a:srgbClr val="FFFFFF"/>
                </a:solidFill>
                <a:latin typeface="Noto Sans CJK KR"/>
                <a:ea typeface="맑은 고딕"/>
              </a:rPr>
              <a:t> 헤일리, 루크, 노아</a:t>
            </a:r>
            <a:endParaRPr lang="en-US" altLang="ko-KR" sz="7000" b="1">
              <a:solidFill>
                <a:srgbClr val="FFFFFF"/>
              </a:solidFill>
              <a:latin typeface="Noto Sans CJK KR"/>
              <a:ea typeface="맑은 고딕"/>
            </a:endParaRPr>
          </a:p>
          <a:p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6/30, 벤, </a:t>
            </a:r>
            <a:r>
              <a:rPr lang="en-US" altLang="ko-KR" sz="7000" b="1" dirty="0" err="1">
                <a:solidFill>
                  <a:srgbClr val="FFFFFF"/>
                </a:solidFill>
                <a:latin typeface="Noto Sans CJK KR"/>
                <a:ea typeface="맑은 고딕"/>
              </a:rPr>
              <a:t>메이</a:t>
            </a: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, </a:t>
            </a:r>
            <a:r>
              <a:rPr lang="en-US" altLang="ko-KR" sz="7000" b="1" dirty="0" err="1">
                <a:solidFill>
                  <a:srgbClr val="FFFFFF"/>
                </a:solidFill>
                <a:latin typeface="Noto Sans CJK KR"/>
                <a:ea typeface="맑은 고딕"/>
              </a:rPr>
              <a:t>한스</a:t>
            </a:r>
          </a:p>
          <a:p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7/14(뤀, </a:t>
            </a:r>
            <a:r>
              <a:rPr lang="en-US" altLang="ko-KR" sz="7000" b="1" dirty="0" err="1">
                <a:solidFill>
                  <a:srgbClr val="FFFFFF"/>
                </a:solidFill>
                <a:latin typeface="Noto Sans CJK KR"/>
                <a:ea typeface="맑은 고딕"/>
              </a:rPr>
              <a:t>한스</a:t>
            </a: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 </a:t>
            </a:r>
            <a:r>
              <a:rPr lang="en-US" altLang="ko-KR" sz="7000" b="1" dirty="0" err="1">
                <a:solidFill>
                  <a:srgbClr val="FFFFFF"/>
                </a:solidFill>
                <a:latin typeface="Noto Sans CJK KR"/>
                <a:ea typeface="맑은 고딕"/>
              </a:rPr>
              <a:t>출장</a:t>
            </a: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. </a:t>
            </a:r>
            <a:r>
              <a:rPr lang="ko-KR" altLang="en-US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알아서</a:t>
            </a:r>
            <a:r>
              <a:rPr lang="en-US" altLang="ko-KR" sz="7000" b="1" dirty="0">
                <a:solidFill>
                  <a:srgbClr val="FFFFFF"/>
                </a:solidFill>
                <a:latin typeface="Noto Sans CJK KR"/>
                <a:ea typeface="맑은 고딕"/>
              </a:rPr>
              <a:t>)</a:t>
            </a:r>
            <a:endParaRPr lang="ko-KR" altLang="en-US" sz="7000" b="1" dirty="0">
              <a:solidFill>
                <a:srgbClr val="FFFFFF"/>
              </a:solidFill>
              <a:latin typeface="Noto Sans CJK KR" pitchFamily="34" charset="0"/>
              <a:ea typeface="맑은 고딕"/>
            </a:endParaRPr>
          </a:p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7/28(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마무리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)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</a:t>
            </a:r>
            <a:endParaRPr lang="en-US" altLang="ko-KR" sz="7000" b="1" dirty="0">
              <a:solidFill>
                <a:srgbClr val="FFFFFF"/>
              </a:solidFill>
              <a:latin typeface="Noto Sans CJK KR" pitchFamily="34" charset="0"/>
            </a:endParaRPr>
          </a:p>
          <a:p>
            <a:pPr marL="0" indent="0" algn="l">
              <a:buNone/>
            </a:pP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A534D10-8AC4-9904-6982-CB3F2E13C2AB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8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A8A67-EA7E-FD2D-B814-685F18911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63821B-3318-7BE8-B46A-E30507BBFD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D6CCB8-111F-D2A1-6121-2FF7F6D64C3F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3E6D58-7AD4-EB9C-352C-52ED1D8C726C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D41F43-5974-687E-4732-3EEE324FAEE6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1F3DAD-344E-6323-FC2B-B4D64ADC3974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5.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</a:t>
            </a:r>
            <a:r>
              <a:rPr lang="ko-KR" altLang="en-US" sz="7000" b="1" dirty="0" err="1">
                <a:solidFill>
                  <a:srgbClr val="FFFFFF"/>
                </a:solidFill>
                <a:latin typeface="Noto Sans CJK KR" pitchFamily="34" charset="0"/>
              </a:rPr>
              <a:t>어디서하나</a:t>
            </a:r>
            <a:r>
              <a:rPr lang="en-US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</a:p>
          <a:p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(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오프라인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-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서면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)</a:t>
            </a: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86C797E-103E-C6AC-A029-DC5AB6E46FD4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169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C226-2570-D600-7BAD-C5941660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6721F3-3B68-8A23-74CE-FABEAD04931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87350E-3AB2-4BFE-B420-306DC256B9A4}"/>
              </a:ext>
            </a:extLst>
          </p:cNvPr>
          <p:cNvSpPr/>
          <p:nvPr/>
        </p:nvSpPr>
        <p:spPr>
          <a:xfrm>
            <a:off x="685800" y="640080"/>
            <a:ext cx="10881360" cy="0"/>
          </a:xfrm>
          <a:prstGeom prst="line">
            <a:avLst/>
          </a:prstGeom>
          <a:noFill/>
          <a:ln w="11430">
            <a:solidFill>
              <a:srgbClr val="2929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B3F3D7-2F89-CB19-0CEF-634D2A15CC16}"/>
              </a:ext>
            </a:extLst>
          </p:cNvPr>
          <p:cNvSpPr/>
          <p:nvPr/>
        </p:nvSpPr>
        <p:spPr>
          <a:xfrm>
            <a:off x="685800" y="640080"/>
            <a:ext cx="2560320" cy="0"/>
          </a:xfrm>
          <a:prstGeom prst="line">
            <a:avLst/>
          </a:prstGeom>
          <a:noFill/>
          <a:ln w="406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C7DD39-F68D-E7FC-D338-62680B9E9F3F}"/>
              </a:ext>
            </a:extLst>
          </p:cNvPr>
          <p:cNvSpPr/>
          <p:nvPr/>
        </p:nvSpPr>
        <p:spPr>
          <a:xfrm>
            <a:off x="6858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DESIGN / MOTION STUDY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2C607D-764D-477E-BDCD-FC525FF1BB0E}"/>
              </a:ext>
            </a:extLst>
          </p:cNvPr>
          <p:cNvSpPr/>
          <p:nvPr/>
        </p:nvSpPr>
        <p:spPr>
          <a:xfrm>
            <a:off x="658368" y="1508759"/>
            <a:ext cx="11009376" cy="4396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6.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왜 하나</a:t>
            </a:r>
            <a:r>
              <a:rPr lang="en-US" sz="7000" b="1" dirty="0">
                <a:solidFill>
                  <a:srgbClr val="FFFFFF"/>
                </a:solidFill>
                <a:latin typeface="Noto Sans CJK KR" pitchFamily="34" charset="0"/>
              </a:rPr>
              <a:t>?</a:t>
            </a:r>
          </a:p>
          <a:p>
            <a:pPr marL="0" indent="0" algn="l">
              <a:buNone/>
            </a:pP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가장 큰 목적</a:t>
            </a:r>
            <a:endParaRPr lang="en-US" altLang="ko-KR" sz="7000" b="1" dirty="0">
              <a:solidFill>
                <a:srgbClr val="FFFFFF"/>
              </a:solidFill>
              <a:latin typeface="Noto Sans CJK KR" pitchFamily="34" charset="0"/>
            </a:endParaRPr>
          </a:p>
          <a:p>
            <a:pPr marL="0" indent="0" algn="l">
              <a:buNone/>
            </a:pP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-&gt;</a:t>
            </a:r>
            <a:r>
              <a:rPr lang="ko-KR" altLang="en-US" sz="7000" b="1" dirty="0">
                <a:solidFill>
                  <a:srgbClr val="FFFFFF"/>
                </a:solidFill>
                <a:latin typeface="Noto Sans CJK KR" pitchFamily="34" charset="0"/>
              </a:rPr>
              <a:t> 애니메이션도 시스템으로 디자인하여야 한다</a:t>
            </a:r>
            <a:r>
              <a:rPr lang="en-US" altLang="ko-KR" sz="7000" b="1" dirty="0">
                <a:solidFill>
                  <a:srgbClr val="FFFFFF"/>
                </a:solidFill>
                <a:latin typeface="Noto Sans CJK KR" pitchFamily="34" charset="0"/>
              </a:rPr>
              <a:t>.</a:t>
            </a:r>
            <a:endParaRPr lang="en-US" sz="7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4F00810-0067-B270-CFAF-E25CC9A8318F}"/>
              </a:ext>
            </a:extLst>
          </p:cNvPr>
          <p:cNvSpPr/>
          <p:nvPr/>
        </p:nvSpPr>
        <p:spPr>
          <a:xfrm>
            <a:off x="11667744" y="6501384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47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2222</Words>
  <Application>Microsoft Office PowerPoint</Application>
  <PresentationFormat>와이드스크린</PresentationFormat>
  <Paragraphs>442</Paragraphs>
  <Slides>28</Slides>
  <Notes>28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움직인다 — 프론트엔드 디자인과 모션 기초</dc:title>
  <dc:subject>Frontend animation, interaction, typography, layout, performance</dc:subject>
  <dc:creator>OpenAI</dc:creator>
  <cp:lastModifiedBy>Hans Kim</cp:lastModifiedBy>
  <cp:revision>20</cp:revision>
  <dcterms:created xsi:type="dcterms:W3CDTF">2026-06-01T20:56:03Z</dcterms:created>
  <dcterms:modified xsi:type="dcterms:W3CDTF">2026-06-02T10:39:59Z</dcterms:modified>
</cp:coreProperties>
</file>